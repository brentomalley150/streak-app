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3922B"/>
          </a:solidFill>
          <a:ln/>
        </p:spPr>
      </p:sp>
      <p:sp>
        <p:nvSpPr>
          <p:cNvPr id="3" name="Shape 1"/>
          <p:cNvSpPr/>
          <p:nvPr/>
        </p:nvSpPr>
        <p:spPr>
          <a:xfrm>
            <a:off x="3264408" y="777240"/>
            <a:ext cx="5669280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</p:spPr>
      </p:sp>
      <p:pic>
        <p:nvPicPr>
          <p:cNvPr id="4" name="Image 0" descr="logo-fu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30168" y="1005840"/>
            <a:ext cx="4937760" cy="2697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416052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54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ROUND  ·  2026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371600" y="452628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reading, turned into a competition kids actually want to win.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2011680" y="5074920"/>
            <a:ext cx="81655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Strava is to running, The Summer Slide is to summer reading — streaks, ranks, and friendly competition that keep kids reading all summer.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594360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 O'Malley</a:t>
            </a:r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Founder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3922B"/>
          </a:solidFill>
          <a:ln/>
        </p:spPr>
      </p:sp>
      <p:pic>
        <p:nvPicPr>
          <p:cNvPr id="3" name="Image 0" descr="logo-fu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4512" y="384048"/>
            <a:ext cx="841248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502920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3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77240" y="82296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summer, kids lose months of reading progress.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777240" y="1481328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invisible until the fall test — and it hits the kids who can least afford it the hardest.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28600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3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months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3127248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reading skills lost over a single summer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2960" y="3977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 et al. meta-analysis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343400" y="228600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A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⅔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4343400" y="3127248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9th-grade reading gap traces to elementary summer learning loss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343400" y="3977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Alexander, Entwisle &amp; Olson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863840" y="228600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3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20–30%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7863840" y="3127248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school-year reading gains lost each summer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7863840" y="3977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NWEA summer learning research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822960" y="4617720"/>
            <a:ext cx="10515600" cy="1325880"/>
          </a:xfrm>
          <a:prstGeom prst="roundRect">
            <a:avLst>
              <a:gd name="adj" fmla="val 6897"/>
            </a:avLst>
          </a:prstGeom>
          <a:solidFill>
            <a:srgbClr val="FFF6EC"/>
          </a:solidFill>
          <a:ln w="12700">
            <a:solidFill>
              <a:srgbClr val="F7D9B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97280" y="480060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B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"By August he'd slipped back a reading level — and we didn't even notice until the fall report card."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097280" y="544068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of a 3rd-grader · 2026 interview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772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Summer Slide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9966960" y="641908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A7A0"/>
          </a:solidFill>
          <a:ln/>
        </p:spPr>
      </p:sp>
      <p:pic>
        <p:nvPicPr>
          <p:cNvPr id="3" name="Image 0" descr="logo-fu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4512" y="384048"/>
            <a:ext cx="841248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502920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A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77240" y="82296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forces converging in 2026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822960" y="23317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A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22960" y="2926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gaps are still wide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3337560"/>
            <a:ext cx="32004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 are still recovering from pandemic-era learning loss, and every summer compounds the unfinished gains. Districts are under real pressure to move reading scores — summer is the open window.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343400" y="23317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A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4343400" y="2926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 live on streaks &amp; leaderboards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343400" y="3337560"/>
            <a:ext cx="32004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Duolingo, chess.com, and Roblox proved that streaks, ranks, and friendly competition drive daily engagement in kids. Summer reading has no equivalent — it's still a paper log.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863840" y="23317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A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7863840" y="2926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makes it cheap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863840" y="3337560"/>
            <a:ext cx="32004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Level-appropriate book matching, comprehension check-ins, and parent-facing score projections that used to need a tutor now run for pennies. The personalization is finally affordable at scale.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2960" y="58978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NWEA assessment research · consumer app engagement benchmarks · internal product evaluation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772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Summer Slide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9966960" y="641908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4C6E0"/>
          </a:solidFill>
          <a:ln/>
        </p:spPr>
      </p:sp>
      <p:pic>
        <p:nvPicPr>
          <p:cNvPr id="3" name="Image 0" descr="logo-fu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4512" y="384048"/>
            <a:ext cx="841248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502920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4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BUILD FOR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77240" y="82296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people drive every product decision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822960" y="2148840"/>
            <a:ext cx="3246120" cy="39319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4EB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2148840"/>
            <a:ext cx="3246120" cy="82296"/>
          </a:xfrm>
          <a:prstGeom prst="rect">
            <a:avLst/>
          </a:prstGeom>
          <a:solidFill>
            <a:srgbClr val="F3922B"/>
          </a:solidFill>
          <a:ln/>
        </p:spPr>
      </p:sp>
      <p:sp>
        <p:nvSpPr>
          <p:cNvPr id="8" name="Text 5"/>
          <p:cNvSpPr/>
          <p:nvPr/>
        </p:nvSpPr>
        <p:spPr>
          <a:xfrm>
            <a:off x="1051560" y="233172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3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READER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51560" y="260604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Declan — the reluctant reader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51560" y="3127248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9 · reads below grade level · loves to win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051560" y="3611880"/>
            <a:ext cx="2788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"Reading feels like homework. Beating my friends doesn't."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051560" y="4526280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3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PRODUCT MOMENT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051560" y="475488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day his streak hits a new chess rank — and a friend is one spot ahead on the leaderboard.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0" y="2148840"/>
            <a:ext cx="3246120" cy="39319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4EB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0" y="2148840"/>
            <a:ext cx="3246120" cy="82296"/>
          </a:xfrm>
          <a:prstGeom prst="rect">
            <a:avLst/>
          </a:prstGeom>
          <a:solidFill>
            <a:srgbClr val="2BA7A0"/>
          </a:solidFill>
          <a:ln/>
        </p:spPr>
      </p:sp>
      <p:sp>
        <p:nvSpPr>
          <p:cNvPr id="16" name="Text 13"/>
          <p:cNvSpPr/>
          <p:nvPr/>
        </p:nvSpPr>
        <p:spPr>
          <a:xfrm>
            <a:off x="4800600" y="233172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BA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PARENT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800600" y="260604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parent in the program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800600" y="3127248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 + the parents whose kids join by link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800600" y="3611880"/>
            <a:ext cx="2788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know it matters — I just don't have time to police it."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800600" y="4526280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BA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PRODUCT MOMENT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800600" y="475488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on-pace projection — and, when invited, a clear 'what is this?' welcome.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321040" y="2148840"/>
            <a:ext cx="3246120" cy="39319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4EB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21040" y="2148840"/>
            <a:ext cx="3246120" cy="82296"/>
          </a:xfrm>
          <a:prstGeom prst="rect">
            <a:avLst/>
          </a:prstGeom>
          <a:solidFill>
            <a:srgbClr val="54C6E0"/>
          </a:solidFill>
          <a:ln/>
        </p:spPr>
      </p:sp>
      <p:sp>
        <p:nvSpPr>
          <p:cNvPr id="24" name="Text 21"/>
          <p:cNvSpPr/>
          <p:nvPr/>
        </p:nvSpPr>
        <p:spPr>
          <a:xfrm>
            <a:off x="8549640" y="233172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4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549640" y="260604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 — the operator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8549640" y="3127248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dashboard for the whole friend group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8549640" y="3611880"/>
            <a:ext cx="2788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set this up for the kids — it has to basically run itself."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8549640" y="4526280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4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PRODUCT MOMENT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8549640" y="475488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five-minute Parents-Only setup — then it runs itself all summer.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772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Summer Slide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9966960" y="641908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3922B"/>
          </a:solidFill>
          <a:ln/>
        </p:spPr>
      </p:sp>
      <p:pic>
        <p:nvPicPr>
          <p:cNvPr id="3" name="Image 0" descr="logo-fu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4512" y="384048"/>
            <a:ext cx="841248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502920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3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77240" y="82296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programs treat summer reading like a homework log.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777240" y="1481328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 don't want a log. They want a game they can win with their friends.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" y="2148840"/>
            <a:ext cx="5074920" cy="2788920"/>
          </a:xfrm>
          <a:prstGeom prst="roundRect">
            <a:avLst>
              <a:gd name="adj" fmla="val 2623"/>
            </a:avLst>
          </a:prstGeom>
          <a:solidFill>
            <a:srgbClr val="F4F6F8"/>
          </a:solidFill>
          <a:ln w="12700">
            <a:solidFill>
              <a:srgbClr val="E4EB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51560" y="23317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LOGS · BEANSTACK · ACCELERATED READER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51560" y="2697480"/>
            <a:ext cx="46634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Reading-minutes chore, logged for the teacher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Compliance-driven — built for the program admin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and invisible to friends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outcome signal until the fall test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63640" y="2148840"/>
            <a:ext cx="5074920" cy="2788920"/>
          </a:xfrm>
          <a:prstGeom prst="roundRect">
            <a:avLst>
              <a:gd name="adj" fmla="val 2623"/>
            </a:avLst>
          </a:prstGeom>
          <a:solidFill>
            <a:srgbClr val="EAF7F5"/>
          </a:solidFill>
          <a:ln w="19050">
            <a:solidFill>
              <a:srgbClr val="2BA7A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92240" y="23317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78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SUMMER SLIDE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92240" y="2697480"/>
            <a:ext cx="46634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competition with streaks, ranks, and prizes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Motivation-driven — built for the kid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leaderboard + invite-a-friend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fall-score projection for parents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22960" y="512064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1B3B5C"/>
          </a:solidFill>
          <a:ln/>
        </p:spPr>
      </p:sp>
      <p:sp>
        <p:nvSpPr>
          <p:cNvPr id="14" name="Text 11"/>
          <p:cNvSpPr/>
          <p:nvPr/>
        </p:nvSpPr>
        <p:spPr>
          <a:xfrm>
            <a:off x="1005840" y="5120640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Strava is to running, The Summer Slide is to reading — the social, competitive layer that makes the habit stick.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772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Summer Slide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9966960" y="641908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A7A0"/>
          </a:solidFill>
          <a:ln/>
        </p:spPr>
      </p:sp>
      <p:pic>
        <p:nvPicPr>
          <p:cNvPr id="3" name="Image 0" descr="logo-fu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4512" y="384048"/>
            <a:ext cx="841248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502920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A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77240" y="82296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Streaks, ranks, and leaderboards — tied to real reading scores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777240" y="1481328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daily loop: read · write · wrap-up. Climb the chess ladder. Beat your friends.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" y="219456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EAF7F5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21945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8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423160" y="21945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12-week plan — click any day to log activity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22960" y="274320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EAF7F5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27432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8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423160" y="27432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check-in: read · write · wrap-up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22960" y="329184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EAF7F5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32918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8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423160" y="32918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Leaderboard, invite links, per-friend goals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22960" y="384048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EAF7F5"/>
          </a:solidFill>
          <a:ln/>
        </p:spPr>
      </p:sp>
      <p:sp>
        <p:nvSpPr>
          <p:cNvPr id="17" name="Text 14"/>
          <p:cNvSpPr/>
          <p:nvPr/>
        </p:nvSpPr>
        <p:spPr>
          <a:xfrm>
            <a:off x="822960" y="38404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8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RANK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2423160" y="38404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 ladder: Pawn → Grandmaster + streak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22960" y="438912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EAF7F5"/>
          </a:solidFill>
          <a:ln/>
        </p:spPr>
      </p:sp>
      <p:sp>
        <p:nvSpPr>
          <p:cNvPr id="20" name="Text 17"/>
          <p:cNvSpPr/>
          <p:nvPr/>
        </p:nvSpPr>
        <p:spPr>
          <a:xfrm>
            <a:off x="822960" y="43891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8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TROPHIES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2423160" y="4389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unlockable achievements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22960" y="493776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EAF7F5"/>
          </a:solidFill>
          <a:ln/>
        </p:spPr>
      </p:sp>
      <p:sp>
        <p:nvSpPr>
          <p:cNvPr id="23" name="Text 20"/>
          <p:cNvSpPr/>
          <p:nvPr/>
        </p:nvSpPr>
        <p:spPr>
          <a:xfrm>
            <a:off x="822960" y="4937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8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PRIZES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2423160" y="49377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Point-redeemable rewards (parent-approved)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22960" y="548640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EAF7F5"/>
          </a:solidFill>
          <a:ln/>
        </p:spPr>
      </p:sp>
      <p:sp>
        <p:nvSpPr>
          <p:cNvPr id="26" name="Text 23"/>
          <p:cNvSpPr/>
          <p:nvPr/>
        </p:nvSpPr>
        <p:spPr>
          <a:xfrm>
            <a:off x="822960" y="54864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8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2423160" y="5486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tracker + nightly fall-score projection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858000" y="2194560"/>
            <a:ext cx="4480560" cy="3657600"/>
          </a:xfrm>
          <a:prstGeom prst="roundRect">
            <a:avLst>
              <a:gd name="adj" fmla="val 2500"/>
            </a:avLst>
          </a:prstGeom>
          <a:solidFill>
            <a:srgbClr val="1B3B5C"/>
          </a:solidFill>
          <a:ln/>
        </p:spPr>
      </p:sp>
      <p:pic>
        <p:nvPicPr>
          <p:cNvPr id="29" name="Image 1" descr="emblem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468880"/>
            <a:ext cx="777240" cy="77724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8046720" y="2606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3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NOW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7132320" y="33832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is built and shipping today.</a:t>
            </a:r>
            <a:endParaRPr lang="en-US" sz="1500" dirty="0"/>
          </a:p>
        </p:txBody>
      </p:sp>
      <p:sp>
        <p:nvSpPr>
          <p:cNvPr id="32" name="Text 28"/>
          <p:cNvSpPr/>
          <p:nvPr/>
        </p:nvSpPr>
        <p:spPr>
          <a:xfrm>
            <a:off x="7178040" y="3977640"/>
            <a:ext cx="3886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Single-file web app — works on any phone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saved on-device; no login friction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 compete cross-device via invite links</a:t>
            </a:r>
            <a:endParaRPr lang="en-US" sz="1150" dirty="0"/>
          </a:p>
        </p:txBody>
      </p:sp>
      <p:sp>
        <p:nvSpPr>
          <p:cNvPr id="33" name="Text 29"/>
          <p:cNvSpPr/>
          <p:nvPr/>
        </p:nvSpPr>
        <p:spPr>
          <a:xfrm>
            <a:off x="7132320" y="54406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4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brentomalley150.github.io/declansummerlearning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7772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Summer Slide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9966960" y="641908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4C6E0"/>
          </a:solidFill>
          <a:ln/>
        </p:spPr>
      </p:sp>
      <p:pic>
        <p:nvPicPr>
          <p:cNvPr id="3" name="Image 0" descr="logo-fu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4512" y="384048"/>
            <a:ext cx="841248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502920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4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SIGNATURE MOVE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77240" y="82296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a friend → they get their own dashboard → you both climb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777240" y="1481328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invite link is the growth loop and the motivation engine at the same time.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" y="2286000"/>
            <a:ext cx="502920" cy="502920"/>
          </a:xfrm>
          <a:prstGeom prst="ellipse">
            <a:avLst/>
          </a:prstGeom>
          <a:solidFill>
            <a:srgbClr val="F3922B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29260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loop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3337560"/>
            <a:ext cx="2514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 read · 10 min write · 5 min wrap-up → streak + points. Consistency is the mechanism, not the marketing.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291840" y="228600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4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3493008" y="2286000"/>
            <a:ext cx="502920" cy="502920"/>
          </a:xfrm>
          <a:prstGeom prst="ellipse">
            <a:avLst/>
          </a:prstGeom>
          <a:solidFill>
            <a:srgbClr val="2BA7A0"/>
          </a:solidFill>
          <a:ln/>
        </p:spPr>
      </p:sp>
      <p:sp>
        <p:nvSpPr>
          <p:cNvPr id="13" name="Text 10"/>
          <p:cNvSpPr/>
          <p:nvPr/>
        </p:nvSpPr>
        <p:spPr>
          <a:xfrm>
            <a:off x="3493008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493008" y="29260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a friend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493008" y="3337560"/>
            <a:ext cx="2514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a link or score code. When a friend opens it, they bootstrap their own dashboard instantly — zero setup.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961888" y="228600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4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6163056" y="2286000"/>
            <a:ext cx="502920" cy="502920"/>
          </a:xfrm>
          <a:prstGeom prst="ellipse">
            <a:avLst/>
          </a:prstGeom>
          <a:solidFill>
            <a:srgbClr val="54C6E0"/>
          </a:solidFill>
          <a:ln/>
        </p:spPr>
      </p:sp>
      <p:sp>
        <p:nvSpPr>
          <p:cNvPr id="18" name="Text 15"/>
          <p:cNvSpPr/>
          <p:nvPr/>
        </p:nvSpPr>
        <p:spPr>
          <a:xfrm>
            <a:off x="6163056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163056" y="29260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163056" y="3337560"/>
            <a:ext cx="2514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 appear on each other's leaderboards across devices. Ranks and trophies make the competition visible.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8631936" y="228600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4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8833104" y="2286000"/>
            <a:ext cx="502920" cy="502920"/>
          </a:xfrm>
          <a:prstGeom prst="ellipse">
            <a:avLst/>
          </a:prstGeom>
          <a:solidFill>
            <a:srgbClr val="178079"/>
          </a:solidFill>
          <a:ln/>
        </p:spPr>
      </p:sp>
      <p:sp>
        <p:nvSpPr>
          <p:cNvPr id="23" name="Text 20"/>
          <p:cNvSpPr/>
          <p:nvPr/>
        </p:nvSpPr>
        <p:spPr>
          <a:xfrm>
            <a:off x="8833104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8833104" y="29260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proof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8833104" y="3337560"/>
            <a:ext cx="2514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nightly projection updates the fall MAP / Lexile forecast from real activity — the outcome, made visible.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822960" y="5440680"/>
            <a:ext cx="10515600" cy="777240"/>
          </a:xfrm>
          <a:prstGeom prst="roundRect">
            <a:avLst>
              <a:gd name="adj" fmla="val 11765"/>
            </a:avLst>
          </a:prstGeom>
          <a:solidFill>
            <a:srgbClr val="EAF7F5"/>
          </a:solidFill>
          <a:ln w="12700">
            <a:solidFill>
              <a:srgbClr val="2BA7A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05840" y="544068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78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competitor a kid recruits is a new household — and a new reason to keep their own streak alive.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7772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Summer Slide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9966960" y="641908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A7A0"/>
          </a:solidFill>
          <a:ln/>
        </p:spPr>
      </p:sp>
      <p:pic>
        <p:nvPicPr>
          <p:cNvPr id="3" name="Image 0" descr="logo-fu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4512" y="384048"/>
            <a:ext cx="841248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502920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A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DEFENSIBILITY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77240" y="82296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moats compound. Child-safety is the floor.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777240" y="1481328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isn't the moat — anyone can call a model. The moat is the habit, the friend graph, and the outcome data.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1488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A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22960" y="26517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&amp; streak data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2960" y="3200400"/>
            <a:ext cx="2514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engagement data tunes nudges and the projection model. The streak itself is a switching cost.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456432" y="21488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A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3456432" y="26517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Friend-graph effect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3456432" y="3200400"/>
            <a:ext cx="2514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invited friend pulls in more. A competitor can't rebuild a kid's leaderboard and crew.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089904" y="21488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A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6089904" y="26517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outcomes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089904" y="3200400"/>
            <a:ext cx="2514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Reading-level + fall-score history sharpens projections and proves impact to schools and parents.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723376" y="21488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A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8723376" y="26517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&amp; school trust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723376" y="3200400"/>
            <a:ext cx="2514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outcomes + COPPA-safe design make us the brand schools adopt and parents trust.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22960" y="4754880"/>
            <a:ext cx="10515600" cy="1371600"/>
          </a:xfrm>
          <a:prstGeom prst="roundRect">
            <a:avLst>
              <a:gd name="adj" fmla="val 6667"/>
            </a:avLst>
          </a:prstGeom>
          <a:solidFill>
            <a:srgbClr val="1B3B5C"/>
          </a:solidFill>
          <a:ln/>
        </p:spPr>
      </p:sp>
      <p:sp>
        <p:nvSpPr>
          <p:cNvPr id="20" name="Text 17"/>
          <p:cNvSpPr/>
          <p:nvPr/>
        </p:nvSpPr>
        <p:spPr>
          <a:xfrm>
            <a:off x="1051560" y="4892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3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CHILD-SAFETY · THE FLOOR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51560" y="521208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COPPA-compliant: verifiable parental consent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 added only by link / code — no stranger contact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Leaderboards show first name + avatar only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309360" y="521208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controls: prizes, points, reset, PIN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Age-appropriate content only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minimization for minors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772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Summer Slide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9966960" y="641908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3922B"/>
          </a:solidFill>
          <a:ln/>
        </p:spPr>
      </p:sp>
      <p:pic>
        <p:nvPicPr>
          <p:cNvPr id="3" name="Image 0" descr="logo-fu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4512" y="384048"/>
            <a:ext cx="841248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502920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3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77240" y="82296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programs are built for compliance. None are built for the kid.</a:t>
            </a:r>
            <a:endParaRPr lang="en-US" sz="2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65960"/>
          <a:ext cx="108813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1371600"/>
                <a:gridCol w="1508760"/>
                <a:gridCol w="1463040"/>
                <a:gridCol w="15087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Game-first?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Peer competition?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 tracking?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for the kid?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Beanstack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Library / school reading logs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Scholastic Summer Reading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 reading challenge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Renaissance / Accelerated Reader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In-school quizzing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Quiz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Epic! / Reading Eggs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Kids' ebook library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780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Summer Slide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780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Competition-first summer reading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780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780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780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780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822960" y="5440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1B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the only product combining a game-first experience, peer competition with viral invites, and real fall-score outcome tracking — purpose-built for the summer window.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7772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Summer Slide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9966960" y="641908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A7A0"/>
          </a:solidFill>
          <a:ln/>
        </p:spPr>
      </p:sp>
      <p:pic>
        <p:nvPicPr>
          <p:cNvPr id="3" name="Image 0" descr="logo-fu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4512" y="384048"/>
            <a:ext cx="841248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502920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A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77240" y="82296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Large, recurring, and underserved every single summer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777240" y="1481328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~35M K-8 students in the US — and summer comes back every year.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2402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4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25146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$6B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822960" y="33101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addressable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" y="36118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summer programs, tutoring &amp; K-8 reading edtech.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343400" y="22402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A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343400" y="25146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$1.1B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4343400" y="33101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Serviceable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343400" y="36118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Digital-native K-8 families + school / library summer programs.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863840" y="22402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3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863840" y="25146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$45M</a:t>
            </a:r>
            <a:endParaRPr lang="en-US" sz="3800" dirty="0"/>
          </a:p>
        </p:txBody>
      </p:sp>
      <p:sp>
        <p:nvSpPr>
          <p:cNvPr id="17" name="Text 14"/>
          <p:cNvSpPr/>
          <p:nvPr/>
        </p:nvSpPr>
        <p:spPr>
          <a:xfrm>
            <a:off x="7863840" y="33101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Five-year addressable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863840" y="36118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Modest share via schools, libraries, and the invite loop.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22960" y="4709160"/>
            <a:ext cx="10515600" cy="1051560"/>
          </a:xfrm>
          <a:prstGeom prst="roundRect">
            <a:avLst>
              <a:gd name="adj" fmla="val 8696"/>
            </a:avLst>
          </a:prstGeom>
          <a:solidFill>
            <a:srgbClr val="EAF7F5"/>
          </a:solidFill>
          <a:ln w="12700">
            <a:solidFill>
              <a:srgbClr val="2BA7A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5156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78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250K ACTIVE READERS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51560" y="5074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~$3–4M ARR blended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5852160" y="489204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/ library program subscriptions (primary) + family subscriptions (secondary). Subscription stays primary at every scale.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822960" y="58978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figures are founder estimates — to validate in diligence.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7772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Summer Slide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9966960" y="641908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4C6E0"/>
          </a:solidFill>
          <a:ln/>
        </p:spPr>
      </p:sp>
      <p:pic>
        <p:nvPicPr>
          <p:cNvPr id="3" name="Image 0" descr="logo-fu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4512" y="384048"/>
            <a:ext cx="841248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502920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4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+ WHAT WE MEASURE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77240" y="82296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rollout with hard go/no-go gates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822960" y="2011680"/>
            <a:ext cx="32461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EB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2011680"/>
            <a:ext cx="3246120" cy="82296"/>
          </a:xfrm>
          <a:prstGeom prst="rect">
            <a:avLst/>
          </a:prstGeom>
          <a:solidFill>
            <a:srgbClr val="F3922B"/>
          </a:solidFill>
          <a:ln/>
        </p:spPr>
      </p:sp>
      <p:sp>
        <p:nvSpPr>
          <p:cNvPr id="8" name="Text 5"/>
          <p:cNvSpPr/>
          <p:nvPr/>
        </p:nvSpPr>
        <p:spPr>
          <a:xfrm>
            <a:off x="1024128" y="217627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3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024128" y="2432304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beta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24128" y="283464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friend group + one classroom this summer. Goal: prove kids keep a streak past week 2 and parents see the projection move.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24128" y="38404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F3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≥50% of kids active at week 4, parent thumbs-up &gt;75%.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370832" y="2011680"/>
            <a:ext cx="32461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EB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70832" y="2011680"/>
            <a:ext cx="3246120" cy="82296"/>
          </a:xfrm>
          <a:prstGeom prst="rect">
            <a:avLst/>
          </a:prstGeom>
          <a:solidFill>
            <a:srgbClr val="2BA7A0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0" y="217627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BA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72000" y="2432304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launch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572000" y="283464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handful of schools / libraries in one district next summer. Validate the invite loop and the fall-score lift vs. a control.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0" y="38404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2BA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measurable fall-score lift, invites per reader &gt;1.0.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918704" y="2011680"/>
            <a:ext cx="32461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EB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918704" y="2011680"/>
            <a:ext cx="3246120" cy="82296"/>
          </a:xfrm>
          <a:prstGeom prst="rect">
            <a:avLst/>
          </a:prstGeom>
          <a:solidFill>
            <a:srgbClr val="54C6E0"/>
          </a:solidFill>
          <a:ln/>
        </p:spPr>
      </p:sp>
      <p:sp>
        <p:nvSpPr>
          <p:cNvPr id="20" name="Text 17"/>
          <p:cNvSpPr/>
          <p:nvPr/>
        </p:nvSpPr>
        <p:spPr>
          <a:xfrm>
            <a:off x="8119872" y="217627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4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119872" y="2432304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launch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8119872" y="283464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signups, school / district plans, sponsor-funded prizes. Marketing aimed at parents.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119872" y="38404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2E6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retention + outcome bar held on real traffic.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22960" y="46177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THAT MATTER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22960" y="49377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 pts</a:t>
            </a:r>
            <a:endParaRPr lang="en-US" sz="2800" dirty="0"/>
          </a:p>
        </p:txBody>
      </p:sp>
      <p:sp>
        <p:nvSpPr>
          <p:cNvPr id="26" name="Text 23"/>
          <p:cNvSpPr/>
          <p:nvPr/>
        </p:nvSpPr>
        <p:spPr>
          <a:xfrm>
            <a:off x="822960" y="54681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MAP RIT lift (185 → 193+)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22960" y="574243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hypothesis — the outcome we're betting on.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343400" y="49377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A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≥60%</a:t>
            </a:r>
            <a:endParaRPr lang="en-US" sz="2800" dirty="0"/>
          </a:p>
        </p:txBody>
      </p:sp>
      <p:sp>
        <p:nvSpPr>
          <p:cNvPr id="29" name="Text 26"/>
          <p:cNvSpPr/>
          <p:nvPr/>
        </p:nvSpPr>
        <p:spPr>
          <a:xfrm>
            <a:off x="4343400" y="54681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week-4 streak retention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343400" y="574243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for the reading habit actually forming.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7863840" y="49377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4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&gt;1.0</a:t>
            </a:r>
            <a:endParaRPr lang="en-US" sz="2800" dirty="0"/>
          </a:p>
        </p:txBody>
      </p:sp>
      <p:sp>
        <p:nvSpPr>
          <p:cNvPr id="32" name="Text 29"/>
          <p:cNvSpPr/>
          <p:nvPr/>
        </p:nvSpPr>
        <p:spPr>
          <a:xfrm>
            <a:off x="7863840" y="54681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invites per active reader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7863840" y="574243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for the viral invite loop compounding.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772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Summer Slide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9966960" y="641908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3922B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" y="457200"/>
            <a:ext cx="160020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</p:spPr>
      </p:sp>
      <p:pic>
        <p:nvPicPr>
          <p:cNvPr id="4" name="Image 0" descr="logo-fu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30352"/>
            <a:ext cx="1325880" cy="7223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48132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3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49808" y="173736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$500K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777240" y="2743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 ·  18-month runway  ·  proposed — adjust to plan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" y="3246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4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356616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3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691640" y="35661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AI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691640" y="382219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Level-aware recommendations, comprehension checks, school dashboard, iOS + Android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77240" y="4407408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3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691640" y="440740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691640" y="466344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schools &amp; districts, content, and the invite loop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77240" y="5248656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3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691640" y="5248656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 &amp; ops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691640" y="5504688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Infra, tools, founder time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492240" y="1691640"/>
            <a:ext cx="4846320" cy="4160520"/>
          </a:xfrm>
          <a:prstGeom prst="roundRect">
            <a:avLst>
              <a:gd name="adj" fmla="val 2198"/>
            </a:avLst>
          </a:prstGeom>
          <a:solidFill>
            <a:srgbClr val="203A5A"/>
          </a:solidFill>
          <a:ln/>
        </p:spPr>
      </p:sp>
      <p:sp>
        <p:nvSpPr>
          <p:cNvPr id="19" name="Text 16"/>
          <p:cNvSpPr/>
          <p:nvPr/>
        </p:nvSpPr>
        <p:spPr>
          <a:xfrm>
            <a:off x="6766560" y="18745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4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766560" y="224028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3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766560" y="247802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/ library program subscription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766560" y="275234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Per-student or per-site — the program runner pays.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766560" y="3319272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3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766560" y="3557016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subscription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766560" y="383133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features + prize support for individual families.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766560" y="4398264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3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6766560" y="463600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Sponsorship &amp; book affiliate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766560" y="491032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Sponsor-funded prizes; affiliate links with disclosure.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766560" y="54406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4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250K active readers: ~$3–4M ARR blended.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77240" y="6172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 O'Malley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Founder   ·   The Summer Slide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7772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Summer Slide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9966960" y="641908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2026-05-30T23:21:08Z</dcterms:created>
  <dcterms:modified xsi:type="dcterms:W3CDTF">2026-05-30T23:21:08Z</dcterms:modified>
</cp:coreProperties>
</file>