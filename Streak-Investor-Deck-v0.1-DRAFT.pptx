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DRAFT · FOR KATE TO ITERATE · v0.1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0584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600" b="1">
                <a:solidFill>
                  <a:srgbClr val="1A1F2E"/>
                </a:solidFill>
                <a:latin typeface="Helvetica"/>
              </a:rPr>
              <a:t>STREAK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4A5568"/>
                </a:solidFill>
                <a:latin typeface="Helvetica"/>
              </a:rPr>
              <a:t>The kid habit platform that started as a summer reading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Helvetica"/>
              </a:rPr>
              <a:t>Year-round. Multi-track. Built by a family that needed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B95A7"/>
                </a:solidFill>
                <a:latin typeface="Helvetica"/>
              </a:rPr>
              <a:t>Founded by Kate O'Malley  ·  Strategy + v1 build: Brent O'Malley  ·  Pitch v0.1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1A1F2E"/>
                </a:solidFill>
                <a:latin typeface="Helvetic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Helvetica"/>
              </a:rPr>
              <a:t>Kids fall behind not from lack of content. From lack of habit.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Helvetica"/>
              </a:rPr>
              <a:t>☀️ SUMMER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Helvetica"/>
              </a:rPr>
              <a:t>The visible 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30175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Helvetica"/>
              </a:rPr>
              <a:t>Average K-5 student loses 1-2 months of reading skill every summer. For kids already behind, the gap compounds year over 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01168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2860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Helvetica"/>
              </a:rPr>
              <a:t>📅 YEAR-ROUND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9748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Helvetica"/>
              </a:rPr>
              <a:t>The bigger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383280"/>
            <a:ext cx="30175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Helvetica"/>
              </a:rPr>
              <a:t>Math fluency stalls between tests. Music practice falters between lessons. Homework consistency collapses every semester. Same dynamic, every domain.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01168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2860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Helvetica"/>
              </a:rPr>
              <a:t>📱 TOOLS DON'T 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69748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Helvetica"/>
              </a:rPr>
              <a:t>Why apps 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383280"/>
            <a:ext cx="30175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Helvetica"/>
              </a:rPr>
              <a:t>Khan, IXL, Kumon, library lists — all content-first. None build the daily habit. Kids open them once, then never again.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D97706"/>
                </a:solidFill>
                <a:latin typeface="Helvetica"/>
              </a:rPr>
              <a:t>Parents want a tool that turns ANY kid skill goal into a daily routine the kid actually opens. Nothing does that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1A1F2E"/>
                </a:solidFill>
                <a:latin typeface="Helvetica"/>
              </a:rPr>
              <a:t>Proof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50292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54864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VALIDATED · WEEK 4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Helvetica"/>
              </a:rPr>
              <a:t>SummerStreak was the prototype. 4 weeks in, the engine is working.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8B95A7"/>
                </a:solidFill>
                <a:latin typeface="Helvetica"/>
              </a:rPr>
              <a:t>BUILD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D97706"/>
                </a:solidFill>
                <a:latin typeface="Helvetica"/>
              </a:rPr>
              <a:t>3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Weekend, vibe-coded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82880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201168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8B95A7"/>
                </a:solidFill>
                <a:latin typeface="Helvetica"/>
              </a:rPr>
              <a:t>TOTAL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331720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D97706"/>
                </a:solidFill>
                <a:latin typeface="Helvetica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926080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Free tiers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82880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01168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8B95A7"/>
                </a:solidFill>
                <a:latin typeface="Helvetica"/>
              </a:rPr>
              <a:t>COMMITS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331720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D97706"/>
                </a:solidFill>
                <a:latin typeface="Helvetica"/>
              </a:rPr>
              <a:t>80+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926080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Iterating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82880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01168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8B95A7"/>
                </a:solidFill>
                <a:latin typeface="Helvetica"/>
              </a:rPr>
              <a:t>ENROLLED FAMILIES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331720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D97706"/>
                </a:solidFill>
                <a:latin typeface="Helvetic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926080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Organic word-of-mouth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182880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01168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8B95A7"/>
                </a:solidFill>
                <a:latin typeface="Helvetica"/>
              </a:rPr>
              <a:t>WEEKLY WINNERS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331720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59669"/>
                </a:solidFill>
                <a:latin typeface="Helvetica"/>
              </a:rPr>
              <a:t>3 of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926080"/>
            <a:ext cx="1783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Different kid each week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657600"/>
            <a:ext cx="36118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886200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Helvetica"/>
              </a:rPr>
              <a:t>✅ Behavior loop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480560"/>
            <a:ext cx="315468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Helvetica"/>
              </a:rPr>
              <a:t>A kid who 'wasn't reading on his own' is voluntarily opening the dashboard, picking up books, logging activity. Knight rank, 2 books finished, 3-day streak.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3657600"/>
            <a:ext cx="36118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3886200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Helvetica"/>
              </a:rPr>
              <a:t>✅ Build economics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480560"/>
            <a:ext cx="315468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Helvetica"/>
              </a:rPr>
              <a:t>Non-engineer parent + AI shipped a complete cross-device kid app for $0 in 3 days. Pre-AI: 6-week sprint with a team of 3.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657600"/>
            <a:ext cx="36118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886200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Helvetica"/>
              </a:rPr>
              <a:t>✅ Acquisition story works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480560"/>
            <a:ext cx="315468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Helvetica"/>
              </a:rPr>
              <a:t>'Parent vibe-coded this for their kid' is the strongest organic narrative in the category. Shareable by PMs, credible to parents, novel to press.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Helvetica"/>
              </a:rPr>
              <a:t>⏳ Still open: outcome claim. September 2026 MAP retest is the keystone. Either it moves or we publish what we learned.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F2E"/>
                </a:solidFill>
                <a:latin typeface="Helvetica"/>
              </a:rPr>
              <a:t>The Solution: One Engine, Many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Helvetica"/>
              </a:rPr>
              <a:t>Same gamified loop. Same Firebase backend. Same parent dashboard. Swap the content pack and you've got a new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Helvetica"/>
              </a:rPr>
              <a:t>THE ENGINE (ALREADY BUILT)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A1F2E"/>
                </a:solidFill>
                <a:latin typeface="Helvetica"/>
              </a:rPr>
              <a:t>Streak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3017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Daily activity check-ins (one-tap)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Points → ranks → leaderboards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Theme picker (chess / sports / music / gaming)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Real-world prize unlocks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Weekly themed challenges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Friends leaderboard (real-time sync)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Past Champions / weekly trophies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Multi-kid + multi-device support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PIN-gated parent dashboard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Hypothesis tracker + outcome projection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92024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05740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59669"/>
                </a:solidFill>
                <a:latin typeface="Helvetica"/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926080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Helvetica"/>
              </a:rPr>
              <a:t>Reading 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4290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Helvetica"/>
              </a:rPr>
              <a:t>SHIPPING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92024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05740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2563EB"/>
                </a:solidFill>
                <a:latin typeface="Helvetica"/>
              </a:rPr>
              <a:t>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926080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Helvetica"/>
              </a:rPr>
              <a:t>Back to School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4290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Helvetica"/>
              </a:rPr>
              <a:t>FALL '26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192024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205740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6D28D9"/>
                </a:solidFill>
                <a:latin typeface="Helvetica"/>
              </a:rPr>
              <a:t>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926080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Helvetica"/>
              </a:rPr>
              <a:t>Math 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34290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Helvetica"/>
              </a:rPr>
              <a:t>YEAR-ROUND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1605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29768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EA580C"/>
                </a:solidFill>
                <a:latin typeface="Helvetica"/>
              </a:rPr>
              <a:t>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166360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Helvetica"/>
              </a:rPr>
              <a:t>Music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566928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EA580C"/>
                </a:solidFill>
                <a:latin typeface="Helvetica"/>
              </a:rPr>
              <a:t>YEAR-ROUND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41605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29768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6D28D9"/>
                </a:solidFill>
                <a:latin typeface="Helvetica"/>
              </a:rPr>
              <a:t>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166360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Helvetica"/>
              </a:rPr>
              <a:t>Mindful Kid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66928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Helvetica"/>
              </a:rPr>
              <a:t>YEAR-ROUND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4160520"/>
            <a:ext cx="1828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9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429768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8B95A7"/>
                </a:solidFill>
                <a:latin typeface="Helvetica"/>
              </a:rPr>
              <a:t>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5166360"/>
            <a:ext cx="1554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Helvetica"/>
              </a:rPr>
              <a:t>Your idea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566928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8B95A7"/>
                </a:solidFill>
                <a:latin typeface="Helvetica"/>
              </a:rPr>
              <a:t>OPEN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6309360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TRACKS = 12-week themed programs · Each plugs into the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F2E"/>
                </a:solidFill>
                <a:latin typeface="Helvetica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Helvetica"/>
              </a:rPr>
              <a:t>US K-5 supplemental learning + adjacent kid productivity SaaS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Helvetica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3063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A1F2E"/>
                </a:solidFill>
                <a:latin typeface="Helvetica"/>
              </a:rPr>
              <a:t>$11B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30632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US K-5 supplemental learning + kid SaaS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(Grand View Research 2024 · 12% YoY growth)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Helvetica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3063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A1F2E"/>
                </a:solidFill>
                <a:latin typeface="Helvetica"/>
              </a:rPr>
              <a:t>$1.5B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03320"/>
            <a:ext cx="30632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Families willing to pay $5-15/mo for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structured kid habit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Helvetica"/>
              </a:rPr>
              <a:t>SOM (Year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30632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A1F2E"/>
                </a:solidFill>
                <a:latin typeface="Helvetica"/>
              </a:rPr>
              <a:t>$300K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703320"/>
            <a:ext cx="30632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500 paying families × $59/yr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+ school pilot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Helvetica"/>
              </a:rPr>
              <a:t>WHY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Helvetica"/>
              </a:rPr>
              <a:t>•  NAEP 2024 reading scores at 32-year low — parental anxiety is structurally high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Helvetica"/>
              </a:rPr>
              <a:t>•  AI inference cost dropped ~80% in 18 months — per-track personalization is viable at &lt;$0.01/family/month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Helvetica"/>
              </a:rPr>
              <a:t>•  AI-assisted builds make multi-track expansion a solo project, not a $1M raise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F2E"/>
                </a:solidFill>
                <a:latin typeface="Helvetica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Helvetica"/>
              </a:rPr>
              <a:t>Everyone optimizes for content. No one optimizes for habit.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106424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938528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Helvetica"/>
              </a:rPr>
              <a:t>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93852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Helvetica"/>
              </a:rPr>
              <a:t>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Helvetica"/>
              </a:rPr>
              <a:t>Khan Academy Kids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441448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44144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Single domain. No habit/streak layer. No social.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44368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Helvetica"/>
              </a:rPr>
              <a:t>Prodigy Math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44368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$7/mo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94436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Math-only. Gamified but no parent outcome projection.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375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47288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Helvetica"/>
              </a:rPr>
              <a:t>Outschool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447288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$30-75/session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44728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Tutor-dependent. Expensive. Not daily.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50208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Helvetica"/>
              </a:rPr>
              <a:t>Kumon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950208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$150-300/mo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95020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Generic worksheets. No kid motivation. No data.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34340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453128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Helvetica"/>
              </a:rPr>
              <a:t>IXL / Atom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453128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$20-30/mo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45312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Curriculum-focused, not habit. Feels like school.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46320"/>
            <a:ext cx="11064240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56048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Helvetica"/>
              </a:rPr>
              <a:t>STREAK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4956048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Free / $4.99/mo / $5/student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4956048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A5568"/>
                </a:solidFill>
                <a:latin typeface="Helvetica"/>
              </a:rPr>
              <a:t>Multi-track engine + habit-first + outcome projection + social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Helvetica"/>
              </a:rPr>
              <a:t>Streak's wedge: the multi-track ENGINE + the 'parent-built' STORY. Both are hard to copy from a startup boardroom.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F2E"/>
                </a:solidFill>
                <a:latin typeface="Helvetica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Helvetica"/>
              </a:rPr>
              <a:t>Free is the lead magnet. Multi-track unlocks paid. Schools are the long game.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9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8B95A7"/>
                </a:solidFill>
                <a:latin typeface="Helvetica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A1F2E"/>
                </a:solidFill>
                <a:latin typeface="Helvetica"/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Lead magnet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30175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1 active track per kid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Unlimited kids per Google account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All core features: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  • Dashboard + leaderboard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  • Weekly challenges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  • Prize shop + ranks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  • Parent controls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Never time-limited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17556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80136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GROWTH DRIVER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945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Helvetica"/>
              </a:rPr>
              <a:t>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6032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A1F2E"/>
                </a:solidFill>
                <a:latin typeface="Helvetica"/>
              </a:rPr>
              <a:t>$4.99/mo</a:t>
            </a:r>
          </a:p>
          <a:p>
            <a:pPr algn="l"/>
            <a:r>
              <a:rPr sz="2600" b="1">
                <a:solidFill>
                  <a:srgbClr val="1A1F2E"/>
                </a:solidFill>
                <a:latin typeface="Helvetica"/>
              </a:rPr>
              <a:t>or $39/yr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52044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The growth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931920"/>
            <a:ext cx="30175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Unlimited active tracks per kid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AI-personalized weekly challenges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Multi-kid roll-up dashboard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Weekly auto-email digest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Streak Resume PDF export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Priority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92024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Helvetica"/>
              </a:rPr>
              <a:t>SCHOOLS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0175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A1F2E"/>
                </a:solidFill>
                <a:latin typeface="Helvetica"/>
              </a:rPr>
              <a:t>$5/student/yr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52044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The Year 2 wedge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931920"/>
            <a:ext cx="30175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Teacher classroom dashboard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Cohort reporting + analytics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Parent-teacher messaging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Custom track authoring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Volume pricing for districts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Helvetica"/>
              </a:rPr>
              <a:t>• Annual contracts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F2E"/>
                </a:solidFill>
                <a:latin typeface="Helvetica"/>
              </a:rPr>
              <a:t>Traction (v1 · SummerStreak)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Helvetica"/>
              </a:rPr>
              <a:t>4-week pilot. Real users. Real engagement. Real data to point 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411480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Helvetica"/>
              </a:rPr>
              <a:t>FOUNDER KID (DECLAN, 10) — STARTING WELL BELOW GRADE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Helvetica"/>
              </a:rPr>
              <a:t>Spring baseline: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Helvetica"/>
              </a:rPr>
              <a:t>MAP Reading RIT 185  ·  Lexile 300-450L  ·  CMAS Written Expression 17th percentile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Helvetica"/>
              </a:rPr>
              <a:t>Week 4 status (live Firebase data):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77639"/>
            <a:ext cx="15087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79"/>
            <a:ext cx="1325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Helvetica"/>
              </a:rPr>
              <a:t>42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59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8B95A7"/>
                </a:solidFill>
                <a:latin typeface="Helvetica"/>
              </a:rPr>
              <a:t>Lifetime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3977639"/>
            <a:ext cx="15087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4069079"/>
            <a:ext cx="1325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Helvetica"/>
              </a:rPr>
              <a:t>Knight 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480559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8B95A7"/>
                </a:solidFill>
                <a:latin typeface="Helvetica"/>
              </a:rPr>
              <a:t>Rank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977639"/>
            <a:ext cx="15087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4069079"/>
            <a:ext cx="1325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Helvetic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480559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8B95A7"/>
                </a:solidFill>
                <a:latin typeface="Helvetica"/>
              </a:rPr>
              <a:t>Books 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977639"/>
            <a:ext cx="15087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4069079"/>
            <a:ext cx="13258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Helvetica"/>
              </a:rPr>
              <a:t>3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480559"/>
            <a:ext cx="1325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8B95A7"/>
                </a:solidFill>
                <a:latin typeface="Helvetica"/>
              </a:rPr>
              <a:t>Streak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6400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Signal: a kid who wasn't reading on his own is now opening a dashboard voluntarily and logging activity. The dashboard is doing the job.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828800"/>
            <a:ext cx="3749039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Helvetica"/>
              </a:rPr>
              <a:t>FRIEND 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377440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Helvetica"/>
              </a:rPr>
              <a:t>5 more kids enrolled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926080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B95A7"/>
                </a:solidFill>
                <a:latin typeface="Helvetica"/>
              </a:rPr>
              <a:t>Organic word-of-mouth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383280"/>
            <a:ext cx="34747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Ben — Won Week 2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Sebastian — Won Week 3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Cooper — gaming theme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Evan — gaming theme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Jasper — gaming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Helvetica"/>
              </a:rPr>
              <a:t>Decision date: September 2026 MAP retest. +8 RIT or the honest debrief — either is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F2E"/>
                </a:solidFill>
                <a:latin typeface="Helvetica"/>
              </a:rPr>
              <a:t>Roadmap to 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Helvetica"/>
              </a:rPr>
              <a:t>Four phases. Each builds on a real proof point from the last.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Now → Aug '26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A1F2E"/>
                </a:solidFill>
                <a:latin typeface="Helvetica"/>
              </a:rPr>
              <a:t>Win SummerStreak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33172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Hold the line on Reading track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September MAP retest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Audience-build around story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≥10 enrolled families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2024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920240"/>
            <a:ext cx="26974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984248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5146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Aug → Nov '26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83464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A1F2E"/>
                </a:solidFill>
                <a:latin typeface="Helvetica"/>
              </a:rPr>
              <a:t>+ Back to School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474720"/>
            <a:ext cx="233172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Streak brand transition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Ship 2nd track (BTS)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Track-aware data model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60%+ summer → fall retention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20240"/>
            <a:ext cx="269748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84248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146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Nov '26 → Mar '27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3464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A1F2E"/>
                </a:solidFill>
                <a:latin typeface="Helvetica"/>
              </a:rPr>
              <a:t>Marketplace + paid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74720"/>
            <a:ext cx="233172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3 more tracks (Math/Music/Mindful)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Paid Family tier launches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ProductHunt launch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50 paying families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920240"/>
            <a:ext cx="269748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920240"/>
            <a:ext cx="269748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984248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"/>
              </a:rP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51460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Mar → Aug '27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83464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A1F2E"/>
                </a:solidFill>
                <a:latin typeface="Helvetica"/>
              </a:rPr>
              <a:t>Schools + teachers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474720"/>
            <a:ext cx="233172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Teacher classroom dashboard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3-5 school pilots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B2B sales motion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1+ school renewal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26364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327648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Helvetica"/>
              </a:rPr>
              <a:t>🔑  THE KEYSTONE: September 2026 MAP retest. Don't ship Phase 2 until Reading track has its proof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F2E"/>
                </a:solidFill>
                <a:latin typeface="Helvetica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Helvetica"/>
              </a:rPr>
              <a:t>Family business. Founder + advisor + future contributors.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Helvetica"/>
              </a:rPr>
              <a:t>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F2E"/>
                </a:solidFill>
                <a:latin typeface="Helvetica"/>
              </a:rPr>
              <a:t>Kate O'Malley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Helvetica"/>
              </a:rPr>
              <a:t>Streak founder, parent of Declan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512064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[KATE — fill in your background here]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Owns: brand, business operations, marketing, partnerships, school + B2B sales motion, fundraising if needed.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Drives the year-round Streak business forward as v1 SummerStreak transitions out of the family-experiment phase.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521208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Helvetica"/>
              </a:rPr>
              <a:t>STRATEGY ADVISOR + V1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A1F2E"/>
                </a:solidFill>
                <a:latin typeface="Helvetica"/>
              </a:rPr>
              <a:t>Brent O'Malley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4612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6D28D9"/>
                </a:solidFill>
                <a:latin typeface="Helvetica"/>
              </a:rPr>
              <a:t>AI Product Manager · Declan's 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49039"/>
            <a:ext cx="484632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Built the original SummerStreak prototype in a weekend using AI-assisted development.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Strategy, technical contributions, story-side marketing. Continuing role as engineering contributor while Kate scales the business.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Background: PM, CrewCares (BuildTheCrew), AI Product Management course.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8B95A7"/>
                </a:solidFill>
                <a:latin typeface="Helvetica"/>
              </a:rPr>
              <a:t>Phase 3 will add: part-time engineer (~$25K), COPPA counsel ($5-10K), per-track subject-matter experts ($500-1500/track), design polish.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F2E"/>
                </a:solidFill>
                <a:latin typeface="Helvetica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Helvetica"/>
              </a:rPr>
              <a:t>[Kate: customize this slide for your audience — investors, advisors, partners, etc.]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611880" cy="429768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063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6D28D9"/>
                </a:solidFill>
                <a:latin typeface="Helvetica"/>
              </a:rPr>
              <a:t>🤝 ADVISORS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3063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Looking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306324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Ed-tech veterans who've sold to schools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K-5 curriculum experts (math, music)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Founders who've shipped multi-tier SaaS pricing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Reading research connections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3611880" cy="429768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3063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Helvetica"/>
              </a:rPr>
              <a:t>💸 PRE-SEED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3063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Open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306324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$50-150K friends-and-family round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Used for: part-time engineer, COPPA legal, brand/design polish, ProductHunt launch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Targets Phase 3 (Nov '26 - Mar '27)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Or: bootstrap to first paid families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611880" cy="429768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3063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Helvetica"/>
              </a:rPr>
              <a:t>🏫 PILOT PARTNERS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3063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Recruiting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306324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3-5 elementary schools in Jefferson County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1-2 tutoring centers for the Reading + Math tracks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Co-design Back to School track with a teacher panel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/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Helvetica"/>
              </a:rPr>
              <a:t>• Parents willing to be case studies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400800"/>
            <a:ext cx="11064240" cy="36576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 w="1270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437376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"/>
              </a:rPr>
              <a:t>Contact: kateomalley22@gmail.com  ·  Live demo: beatthesummerslide.com  ·  Vision hub: brentomalley150.github.io/streak-app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A1F2E"/>
                </a:solidFill>
                <a:latin typeface="Helvetica"/>
              </a:rPr>
              <a:t>Appendix · Key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Helvetica"/>
              </a:rPr>
              <a:t>Use these verbatim when telling the story externally.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Helvetica"/>
              </a:rPr>
              <a:t>PROOF (FROM SUMMERSTREAK V1)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Build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Weekend (~3 days)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Total cost to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Commits to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80+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Enrolled families (Week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Founder kid's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MAP RIT 185 / Lexile 300-450L / CMAS 17th %ile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Founder kid's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MAP RIT 193+ (+8 by September)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Founder kid's Week 4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Knight rank · 2 books · 3-day streak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Weekly winners through Wk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Declan (Wk1), Ben (Wk2), Sebastian (Wk3)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Hypothesis decision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September 2026 MAP retest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Helvetica"/>
              </a:rPr>
              <a:t>TARGETS (STREAK V2)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Year 1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945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500 active families · 5 tracks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688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Premium conversion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974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8% of 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9718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School pilots target Year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004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3 (≥1 renewal commit)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4747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Year 3 ARR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~$320K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7764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Year 5 ARR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0624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~$1.6M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4805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Phase 2 budget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7091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$5K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834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Phase 3 budget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$35K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864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Phase 4 budget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7150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$25K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9893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8B95A7"/>
                </a:solidFill>
                <a:latin typeface="Helvetica"/>
              </a:rPr>
              <a:t>Total to Year 1 close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62179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F2E"/>
                </a:solidFill>
                <a:latin typeface="Helvetica"/>
              </a:rPr>
              <a:t>~$65K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200" b="1">
                <a:solidFill>
                  <a:srgbClr val="1A1F2E"/>
                </a:solidFill>
                <a:latin typeface="Helvetica"/>
              </a:rPr>
              <a:t>Streak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D97706"/>
                </a:solidFill>
                <a:latin typeface="Helvetica"/>
              </a:rPr>
              <a:t>The kid habit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Helvetica"/>
              </a:rPr>
              <a:t>Founded by a family that needed it. Validated by 6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297680"/>
            <a:ext cx="8503920" cy="182880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443484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Helvetica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800600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Helvetica"/>
              </a:rPr>
              <a:t>1.  Reply with interest level (advisor / capital / pilot partner / just curious)</a:t>
            </a:r>
          </a:p>
          <a:p>
            <a:pPr algn="l"/>
            <a:r>
              <a:rPr sz="1400" b="0">
                <a:solidFill>
                  <a:srgbClr val="4A5568"/>
                </a:solidFill>
                <a:latin typeface="Helvetica"/>
              </a:rPr>
              <a:t>2.  We send the proof page, vision doc, and a 15-min Loom walking through the live product</a:t>
            </a:r>
          </a:p>
          <a:p>
            <a:pPr algn="l"/>
            <a:r>
              <a:rPr sz="1400" b="0">
                <a:solidFill>
                  <a:srgbClr val="4A5568"/>
                </a:solidFill>
                <a:latin typeface="Helvetica"/>
              </a:rPr>
              <a:t>3.  30-min call if it's a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8B95A7"/>
                </a:solidFill>
                <a:latin typeface="Helvetica"/>
              </a:rPr>
              <a:t>Kate O'Malley  ·  kateomalley22@gmail.com  ·  beatthesummerslide.com  ·  brentomalley150.github.io/streak-app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